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7E5E1-164B-4595-8550-F1189AF9DEBA}" v="2" dt="2025-03-04T14:54:34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iyaraveendran123@gmail.com" userId="dcd12eb41bb3191b" providerId="LiveId" clId="{DE67E5E1-164B-4595-8550-F1189AF9DEBA}"/>
    <pc:docChg chg="addSld delSld modSld">
      <pc:chgData name="anuriyaraveendran123@gmail.com" userId="dcd12eb41bb3191b" providerId="LiveId" clId="{DE67E5E1-164B-4595-8550-F1189AF9DEBA}" dt="2025-03-04T14:55:11.205" v="17" actId="1076"/>
      <pc:docMkLst>
        <pc:docMk/>
      </pc:docMkLst>
      <pc:sldChg chg="new del">
        <pc:chgData name="anuriyaraveendran123@gmail.com" userId="dcd12eb41bb3191b" providerId="LiveId" clId="{DE67E5E1-164B-4595-8550-F1189AF9DEBA}" dt="2025-03-04T14:51:59.411" v="2" actId="2696"/>
        <pc:sldMkLst>
          <pc:docMk/>
          <pc:sldMk cId="141792817" sldId="267"/>
        </pc:sldMkLst>
      </pc:sldChg>
      <pc:sldChg chg="addSp modSp new mod">
        <pc:chgData name="anuriyaraveendran123@gmail.com" userId="dcd12eb41bb3191b" providerId="LiveId" clId="{DE67E5E1-164B-4595-8550-F1189AF9DEBA}" dt="2025-03-04T14:55:11.205" v="17" actId="1076"/>
        <pc:sldMkLst>
          <pc:docMk/>
          <pc:sldMk cId="1381156319" sldId="268"/>
        </pc:sldMkLst>
        <pc:picChg chg="add mod modCrop">
          <ac:chgData name="anuriyaraveendran123@gmail.com" userId="dcd12eb41bb3191b" providerId="LiveId" clId="{DE67E5E1-164B-4595-8550-F1189AF9DEBA}" dt="2025-03-04T14:54:14.894" v="9" actId="14100"/>
          <ac:picMkLst>
            <pc:docMk/>
            <pc:sldMk cId="1381156319" sldId="268"/>
            <ac:picMk id="3" creationId="{2F81567A-63BA-9E52-D7A3-BEA69127AF75}"/>
          </ac:picMkLst>
        </pc:picChg>
        <pc:picChg chg="add mod modCrop">
          <ac:chgData name="anuriyaraveendran123@gmail.com" userId="dcd12eb41bb3191b" providerId="LiveId" clId="{DE67E5E1-164B-4595-8550-F1189AF9DEBA}" dt="2025-03-04T14:55:11.205" v="17" actId="1076"/>
          <ac:picMkLst>
            <pc:docMk/>
            <pc:sldMk cId="1381156319" sldId="268"/>
            <ac:picMk id="5" creationId="{2F4076E1-DA27-0F32-0930-30260B527F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BB22-C93D-7AA7-6F92-B3B993404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DIABETICS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9A749-B139-E56F-42CA-F4FF4CF65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Aptos Narrow" panose="020B0004020202020204" pitchFamily="34" charset="0"/>
              </a:rPr>
              <a:t>BY ; ANURIYA RAVEENDRAN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Aptos Narrow" panose="020B0004020202020204" pitchFamily="34" charset="0"/>
              </a:rPr>
              <a:t>BATCH : DA-DS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Aptos Narrow" panose="020B0004020202020204" pitchFamily="34" charset="0"/>
              </a:rPr>
              <a:t>REINFORCEMENT 3 : TABLEAU DATA VISUALIZATION</a:t>
            </a:r>
            <a:endParaRPr lang="en-IN" dirty="0">
              <a:solidFill>
                <a:schemeClr val="tx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8C1D-DA35-7D61-420F-E02EC2F6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156" y="433750"/>
            <a:ext cx="7729728" cy="529811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26101-0EBA-A69F-4B89-27B9B7502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79" y="2035277"/>
            <a:ext cx="10402531" cy="3903407"/>
          </a:xfrm>
        </p:spPr>
        <p:txBody>
          <a:bodyPr/>
          <a:lstStyle/>
          <a:p>
            <a:r>
              <a:rPr lang="en-US" dirty="0"/>
              <a:t>This dataset, analyzed in </a:t>
            </a:r>
            <a:r>
              <a:rPr lang="en-US" b="1" dirty="0"/>
              <a:t>Tableau</a:t>
            </a:r>
            <a:r>
              <a:rPr lang="en-US" dirty="0"/>
              <a:t>, explores the relationship between diabetes and various health factors such as </a:t>
            </a:r>
            <a:r>
              <a:rPr lang="en-US" b="1" dirty="0"/>
              <a:t>BMI, HbA1c levels, blood glucose levels, smoking history, hypertension, and heart disease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Using interactive visualizations, we uncover key insights, including the impact of </a:t>
            </a:r>
            <a:r>
              <a:rPr lang="en-US" b="1" dirty="0"/>
              <a:t>age, lifestyle, and medical history</a:t>
            </a:r>
            <a:r>
              <a:rPr lang="en-US" dirty="0"/>
              <a:t> on diabetes prevalence. </a:t>
            </a:r>
          </a:p>
          <a:p>
            <a:endParaRPr lang="en-US" dirty="0"/>
          </a:p>
          <a:p>
            <a:r>
              <a:rPr lang="en-US" dirty="0"/>
              <a:t>The dashboard includes </a:t>
            </a:r>
            <a:r>
              <a:rPr lang="en-US" b="1" dirty="0"/>
              <a:t>bar charts, heatmaps, and trend lines</a:t>
            </a:r>
            <a:r>
              <a:rPr lang="en-US" dirty="0"/>
              <a:t>, providing a clear understanding of risk factors and patterns in the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017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3560-A4B0-E407-AD75-E9A2A416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33" y="591631"/>
            <a:ext cx="7729728" cy="746121"/>
          </a:xfrm>
        </p:spPr>
        <p:txBody>
          <a:bodyPr>
            <a:normAutofit fontScale="90000"/>
          </a:bodyPr>
          <a:lstStyle/>
          <a:p>
            <a:r>
              <a:rPr lang="en-US" dirty="0"/>
              <a:t>AIM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EE57-62BF-3894-30AA-98E4753D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8360" y="2791325"/>
            <a:ext cx="10373034" cy="3101983"/>
          </a:xfrm>
        </p:spPr>
        <p:txBody>
          <a:bodyPr/>
          <a:lstStyle/>
          <a:p>
            <a:r>
              <a:rPr lang="en-US" dirty="0"/>
              <a:t>The aim of this analysis in </a:t>
            </a:r>
            <a:r>
              <a:rPr lang="en-US" b="1" dirty="0"/>
              <a:t>Tableau</a:t>
            </a:r>
            <a:r>
              <a:rPr lang="en-US" dirty="0"/>
              <a:t> is to explore the relationship between </a:t>
            </a:r>
            <a:r>
              <a:rPr lang="en-US" b="1" dirty="0"/>
              <a:t>diabetes and key health factors</a:t>
            </a:r>
            <a:r>
              <a:rPr lang="en-US" dirty="0"/>
              <a:t> such as </a:t>
            </a:r>
            <a:r>
              <a:rPr lang="en-US" b="1" dirty="0"/>
              <a:t>BMI, blood glucose levels, HbA1c levels, smoking history, hypertension, and heart disease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By visualizing trends and patterns, we aim to identify </a:t>
            </a:r>
            <a:r>
              <a:rPr lang="en-US" b="1" dirty="0"/>
              <a:t>potential risk factors</a:t>
            </a:r>
            <a:r>
              <a:rPr lang="en-US" dirty="0"/>
              <a:t> and provide insights that can help in </a:t>
            </a:r>
            <a:r>
              <a:rPr lang="en-US" b="1" dirty="0"/>
              <a:t>early detection and prevention</a:t>
            </a:r>
            <a:r>
              <a:rPr lang="en-US" dirty="0"/>
              <a:t> of diabetes.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22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B5CF-163F-3FFD-C5B7-FD38E23A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168" y="335428"/>
            <a:ext cx="7729728" cy="44132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A88E9-1D7B-B54C-BB9D-085121B75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302257"/>
              </p:ext>
            </p:extLst>
          </p:nvPr>
        </p:nvGraphicFramePr>
        <p:xfrm>
          <a:off x="511178" y="1533832"/>
          <a:ext cx="11336332" cy="474898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84200">
                  <a:extLst>
                    <a:ext uri="{9D8B030D-6E8A-4147-A177-3AD203B41FA5}">
                      <a16:colId xmlns:a16="http://schemas.microsoft.com/office/drawing/2014/main" val="2178766121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903509884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129626560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378851705"/>
                    </a:ext>
                  </a:extLst>
                </a:gridCol>
                <a:gridCol w="696037">
                  <a:extLst>
                    <a:ext uri="{9D8B030D-6E8A-4147-A177-3AD203B41FA5}">
                      <a16:colId xmlns:a16="http://schemas.microsoft.com/office/drawing/2014/main" val="104659049"/>
                    </a:ext>
                  </a:extLst>
                </a:gridCol>
                <a:gridCol w="564900">
                  <a:extLst>
                    <a:ext uri="{9D8B030D-6E8A-4147-A177-3AD203B41FA5}">
                      <a16:colId xmlns:a16="http://schemas.microsoft.com/office/drawing/2014/main" val="2313823543"/>
                    </a:ext>
                  </a:extLst>
                </a:gridCol>
                <a:gridCol w="585075">
                  <a:extLst>
                    <a:ext uri="{9D8B030D-6E8A-4147-A177-3AD203B41FA5}">
                      <a16:colId xmlns:a16="http://schemas.microsoft.com/office/drawing/2014/main" val="1160662363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065536641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2562439961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867539659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913483454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961758010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506796190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2302051987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755669946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2145894757"/>
                    </a:ext>
                  </a:extLst>
                </a:gridCol>
                <a:gridCol w="774720">
                  <a:extLst>
                    <a:ext uri="{9D8B030D-6E8A-4147-A177-3AD203B41FA5}">
                      <a16:colId xmlns:a16="http://schemas.microsoft.com/office/drawing/2014/main" val="2108312612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779432978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972005791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3423966078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743766362"/>
                    </a:ext>
                  </a:extLst>
                </a:gridCol>
                <a:gridCol w="484200">
                  <a:extLst>
                    <a:ext uri="{9D8B030D-6E8A-4147-A177-3AD203B41FA5}">
                      <a16:colId xmlns:a16="http://schemas.microsoft.com/office/drawing/2014/main" val="2899285745"/>
                    </a:ext>
                  </a:extLst>
                </a:gridCol>
              </a:tblGrid>
              <a:tr h="7896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year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gender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age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location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race:AfricanAmerican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race:Asian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race:Caucasian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race:Hispanic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race:Other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hypertension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heart_disease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smoking_history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bmi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hbA1c_level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blood_glucose_level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diabetes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clinical_notes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extLst>
                  <a:ext uri="{0D108BD9-81ED-4DB2-BD59-A6C34878D82A}">
                    <a16:rowId xmlns:a16="http://schemas.microsoft.com/office/drawing/2014/main" val="1225125740"/>
                  </a:ext>
                </a:extLst>
              </a:tr>
              <a:tr h="270712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2020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Female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32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never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27.32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100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Overweight, advised dietary and exercise modifications.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extLst>
                  <a:ext uri="{0D108BD9-81ED-4DB2-BD59-A6C34878D82A}">
                    <a16:rowId xmlns:a16="http://schemas.microsoft.com/office/drawing/2014/main" val="2763920875"/>
                  </a:ext>
                </a:extLst>
              </a:tr>
              <a:tr h="530167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Female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never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19.95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90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Healthy BMI range.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extLst>
                  <a:ext uri="{0D108BD9-81ED-4DB2-BD59-A6C34878D82A}">
                    <a16:rowId xmlns:a16="http://schemas.microsoft.com/office/drawing/2014/main" val="3922920475"/>
                  </a:ext>
                </a:extLst>
              </a:tr>
              <a:tr h="789620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never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23.76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4.8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160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Young patient, generally lower risk but needs lifestyle assessment. Healthy BMI range. Elevated blood glucose levels, potential diabetes concern.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979536"/>
                  </a:ext>
                </a:extLst>
              </a:tr>
              <a:tr h="530167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41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never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27.32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159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Overweight, advised dietary and exercise modifications. Elevated blood glucose levels, potential diabetes concern.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367722"/>
                  </a:ext>
                </a:extLst>
              </a:tr>
              <a:tr h="789620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Female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52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never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23.75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6.5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90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Healthy BMI range. High HbA1c level, indicative of diabetes or poor glucose control. Higher predisposition to hypertension and diabetes.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84008"/>
                  </a:ext>
                </a:extLst>
              </a:tr>
              <a:tr h="1049075"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2016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Male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66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Alabama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not current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27.32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5.7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159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u="none" strike="noStrike">
                          <a:effectLst/>
                        </a:rPr>
                        <a:t>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Elderly patient with increased risk of chronic conditions. Overweight, advised dietary and exercise modifications. Elevated blood glucose levels, potential diabetes concern. History of smoking, potential lung and vascular health impact.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51" marR="5951" marT="5951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20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20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EFB4-259A-811E-DB52-030CF586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155" y="256769"/>
            <a:ext cx="7729728" cy="58880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UNDERSTANDING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26A36A-344B-43D4-CC06-61EB424D61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6820" y="1642713"/>
            <a:ext cx="90579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Year of data entry.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Gender of the patient.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Age in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State or region.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Various race categories (African American, Asian, Caucasian, Hispanic, Other).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hypertension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Whether the patient has hypertension (1 = Yes, 0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heart_disease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Whether the patient has heart disease (1 = Yes, 0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smoking_history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Smoking status (never, former, current,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Body Mass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hbA1c_level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Average blood sugar level (HbA1c percentage).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blood_glucose_level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Blood glucose level in mg/dL.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Presence of diabetes (1 = Yes, 0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clinical_notes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Text-based health notes </a:t>
            </a:r>
          </a:p>
        </p:txBody>
      </p:sp>
    </p:spTree>
    <p:extLst>
      <p:ext uri="{BB962C8B-B14F-4D97-AF65-F5344CB8AC3E}">
        <p14:creationId xmlns:p14="http://schemas.microsoft.com/office/powerpoint/2010/main" val="328909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6970-E3DB-A5A9-EE52-262921B4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819" y="433750"/>
            <a:ext cx="7729728" cy="56914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A5C15-B94D-4B1B-0468-CFD0D80A8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201" t="24535" r="19334" b="15798"/>
          <a:stretch/>
        </p:blipFill>
        <p:spPr>
          <a:xfrm>
            <a:off x="6322141" y="1108587"/>
            <a:ext cx="4306530" cy="27235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482F9-DE27-7C4C-470F-F94729678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84" t="21219" r="40000" b="12688"/>
          <a:stretch/>
        </p:blipFill>
        <p:spPr>
          <a:xfrm>
            <a:off x="432620" y="1553496"/>
            <a:ext cx="4522838" cy="5093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87D15D-6C22-6C06-85BF-352A842B11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113" t="26093" r="10563" b="11828"/>
          <a:stretch/>
        </p:blipFill>
        <p:spPr>
          <a:xfrm>
            <a:off x="6322140" y="3937819"/>
            <a:ext cx="4306530" cy="292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33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81567A-63BA-9E52-D7A3-BEA69127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31" t="22222" r="10645" b="11397"/>
          <a:stretch/>
        </p:blipFill>
        <p:spPr>
          <a:xfrm>
            <a:off x="176981" y="1396180"/>
            <a:ext cx="5751871" cy="4552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076E1-DA27-0F32-0930-30260B527F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74" t="21792" r="10645" b="11828"/>
          <a:stretch/>
        </p:blipFill>
        <p:spPr>
          <a:xfrm>
            <a:off x="6754761" y="1396180"/>
            <a:ext cx="4729316" cy="455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5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235C-AB63-076C-E68C-9B8B5E70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156" y="325596"/>
            <a:ext cx="7729728" cy="333166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 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F60ECD-35CC-D365-1F23-2A4818FAD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899" t="13601" b="11487"/>
          <a:stretch/>
        </p:blipFill>
        <p:spPr>
          <a:xfrm>
            <a:off x="580103" y="1111045"/>
            <a:ext cx="11090787" cy="5421360"/>
          </a:xfrm>
        </p:spPr>
      </p:pic>
    </p:spTree>
    <p:extLst>
      <p:ext uri="{BB962C8B-B14F-4D97-AF65-F5344CB8AC3E}">
        <p14:creationId xmlns:p14="http://schemas.microsoft.com/office/powerpoint/2010/main" val="319206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7F1A-0A3C-D1EA-697D-C0C79B30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988" y="335427"/>
            <a:ext cx="7729728" cy="48065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A77EE3-37E3-EADD-5820-7F3BE9F7AC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838" y="1409576"/>
            <a:ext cx="993032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BMI Trends Over the Years: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BMI counts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peaked in 2019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and then dropped sharply in 2020.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This could be due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changes in data collection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or a real-world event affecting BMI.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Smoking &amp; Diabetes: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People who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smoke (current or past)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higher diabetes cases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Those who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never smoked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or 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no smoking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show lower cases of diabetes.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Smoking &amp; Heart Disease: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Surprisingly,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non-smokers have the highest heart disease cases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This means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other factors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(like lifestyle or genetics) may play a bigger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Gender Distribution: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More females (58,552) than males (41,430)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are included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 very small number of people fall under the "Other" gender category (18).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8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5180-BEA8-6EC7-93E5-71A0C15C2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THANKYOU 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36545-1025-FB93-980B-2C9E15AFE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6535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{3C7DB4DB-F5B6-4BD8-973E-DD6DB42A909D}tf10001115</Template>
  <TotalTime>2017</TotalTime>
  <Words>706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Display</vt:lpstr>
      <vt:lpstr>Aptos Narrow</vt:lpstr>
      <vt:lpstr>Arial</vt:lpstr>
      <vt:lpstr>Calibri</vt:lpstr>
      <vt:lpstr>Gill Sans MT</vt:lpstr>
      <vt:lpstr>Parcel</vt:lpstr>
      <vt:lpstr>DIABETICS ANALYSIS</vt:lpstr>
      <vt:lpstr>INTRODUCTION</vt:lpstr>
      <vt:lpstr>AIM</vt:lpstr>
      <vt:lpstr>DATASET OVERVIEW</vt:lpstr>
      <vt:lpstr>DATA UNDERSTANDING</vt:lpstr>
      <vt:lpstr>DATA VISUALIZATION</vt:lpstr>
      <vt:lpstr>PowerPoint Presentation</vt:lpstr>
      <vt:lpstr>DASHBOARD  OVERVIEW</vt:lpstr>
      <vt:lpstr>CONCLUSION</vt:lpstr>
      <vt:lpstr>THANKYOU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anuriyaraveendran123@gmail.com</dc:creator>
  <cp:lastModifiedBy>anuriyaraveendran123@gmail.com</cp:lastModifiedBy>
  <cp:revision>1</cp:revision>
  <dcterms:created xsi:type="dcterms:W3CDTF">2025-03-01T15:45:25Z</dcterms:created>
  <dcterms:modified xsi:type="dcterms:W3CDTF">2025-03-04T14:55:11Z</dcterms:modified>
</cp:coreProperties>
</file>